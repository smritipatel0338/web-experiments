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8" r:id="rId7"/>
    <p:sldId id="318" r:id="rId8"/>
    <p:sldId id="278" r:id="rId9"/>
    <p:sldId id="309" r:id="rId10"/>
    <p:sldId id="263" r:id="rId11"/>
    <p:sldId id="310" r:id="rId12"/>
    <p:sldId id="312" r:id="rId13"/>
    <p:sldId id="304" r:id="rId14"/>
    <p:sldId id="319" r:id="rId15"/>
    <p:sldId id="32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C507A-D4DE-4AF0-9972-97D181E0DB5B}" v="71" dt="2025-11-08T12:43:42.193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9" autoAdjust="0"/>
  </p:normalViewPr>
  <p:slideViewPr>
    <p:cSldViewPr snapToGrid="0">
      <p:cViewPr varScale="1">
        <p:scale>
          <a:sx n="47" d="100"/>
          <a:sy n="47" d="100"/>
        </p:scale>
        <p:origin x="384" y="29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34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riti Patel" userId="5fd2ca6fb9ea0b00" providerId="LiveId" clId="{9759F244-9C88-47DF-8BD8-63B0AA80654E}"/>
    <pc:docChg chg="undo custSel addSld modSld sldOrd modMainMaster">
      <pc:chgData name="Smriti Patel" userId="5fd2ca6fb9ea0b00" providerId="LiveId" clId="{9759F244-9C88-47DF-8BD8-63B0AA80654E}" dt="2025-11-08T12:43:59.652" v="522" actId="14100"/>
      <pc:docMkLst>
        <pc:docMk/>
      </pc:docMkLst>
      <pc:sldChg chg="modSp mod ord modTransition">
        <pc:chgData name="Smriti Patel" userId="5fd2ca6fb9ea0b00" providerId="LiveId" clId="{9759F244-9C88-47DF-8BD8-63B0AA80654E}" dt="2025-11-07T04:33:31.968" v="491"/>
        <pc:sldMkLst>
          <pc:docMk/>
          <pc:sldMk cId="1096717490" sldId="263"/>
        </pc:sldMkLst>
        <pc:spChg chg="mod">
          <ac:chgData name="Smriti Patel" userId="5fd2ca6fb9ea0b00" providerId="LiveId" clId="{9759F244-9C88-47DF-8BD8-63B0AA80654E}" dt="2025-11-05T16:18:11.926" v="469" actId="20577"/>
          <ac:spMkLst>
            <pc:docMk/>
            <pc:sldMk cId="1096717490" sldId="263"/>
            <ac:spMk id="15" creationId="{C7846849-DC0A-EE3B-2E5E-D669EC1273D6}"/>
          </ac:spMkLst>
        </pc:spChg>
      </pc:sldChg>
      <pc:sldChg chg="addSp delSp modSp mod modTransition">
        <pc:chgData name="Smriti Patel" userId="5fd2ca6fb9ea0b00" providerId="LiveId" clId="{9759F244-9C88-47DF-8BD8-63B0AA80654E}" dt="2025-11-07T04:33:31.968" v="491"/>
        <pc:sldMkLst>
          <pc:docMk/>
          <pc:sldMk cId="520000563" sldId="278"/>
        </pc:sldMkLst>
        <pc:spChg chg="add mod">
          <ac:chgData name="Smriti Patel" userId="5fd2ca6fb9ea0b00" providerId="LiveId" clId="{9759F244-9C88-47DF-8BD8-63B0AA80654E}" dt="2025-11-05T04:14:18.591" v="22" actId="1076"/>
          <ac:spMkLst>
            <pc:docMk/>
            <pc:sldMk cId="520000563" sldId="278"/>
            <ac:spMk id="7" creationId="{4B3D05A1-7817-46F1-1666-4466FF0E30FD}"/>
          </ac:spMkLst>
        </pc:spChg>
        <pc:picChg chg="add mod modCrop">
          <ac:chgData name="Smriti Patel" userId="5fd2ca6fb9ea0b00" providerId="LiveId" clId="{9759F244-9C88-47DF-8BD8-63B0AA80654E}" dt="2025-11-05T04:18:59.534" v="250" actId="1038"/>
          <ac:picMkLst>
            <pc:docMk/>
            <pc:sldMk cId="520000563" sldId="278"/>
            <ac:picMk id="6" creationId="{FD63C130-FB36-27F5-F2FF-C99E885F71E9}"/>
          </ac:picMkLst>
        </pc:picChg>
      </pc:sldChg>
      <pc:sldChg chg="modSp modTransition">
        <pc:chgData name="Smriti Patel" userId="5fd2ca6fb9ea0b00" providerId="LiveId" clId="{9759F244-9C88-47DF-8BD8-63B0AA80654E}" dt="2025-11-07T04:33:31.968" v="491"/>
        <pc:sldMkLst>
          <pc:docMk/>
          <pc:sldMk cId="2188828507" sldId="304"/>
        </pc:sldMkLst>
        <pc:spChg chg="mod">
          <ac:chgData name="Smriti Patel" userId="5fd2ca6fb9ea0b00" providerId="LiveId" clId="{9759F244-9C88-47DF-8BD8-63B0AA80654E}" dt="2025-11-05T04:35:28.428" v="410"/>
          <ac:spMkLst>
            <pc:docMk/>
            <pc:sldMk cId="2188828507" sldId="304"/>
            <ac:spMk id="11" creationId="{C6DCC38C-603B-CCD0-2914-0BBCD4F4F74E}"/>
          </ac:spMkLst>
        </pc:spChg>
      </pc:sldChg>
      <pc:sldChg chg="addSp delSp modSp mod modTransition">
        <pc:chgData name="Smriti Patel" userId="5fd2ca6fb9ea0b00" providerId="LiveId" clId="{9759F244-9C88-47DF-8BD8-63B0AA80654E}" dt="2025-11-07T04:33:31.968" v="491"/>
        <pc:sldMkLst>
          <pc:docMk/>
          <pc:sldMk cId="586478555" sldId="307"/>
        </pc:sldMkLst>
        <pc:graphicFrameChg chg="add del mod modGraphic">
          <ac:chgData name="Smriti Patel" userId="5fd2ca6fb9ea0b00" providerId="LiveId" clId="{9759F244-9C88-47DF-8BD8-63B0AA80654E}" dt="2025-11-05T04:31:09.349" v="409" actId="14100"/>
          <ac:graphicFrameMkLst>
            <pc:docMk/>
            <pc:sldMk cId="586478555" sldId="307"/>
            <ac:graphicFrameMk id="6" creationId="{0D6FB95E-6987-A57C-3663-3FD6F6FAC24E}"/>
          </ac:graphicFrameMkLst>
        </pc:graphicFrameChg>
      </pc:sldChg>
      <pc:sldChg chg="modSp modTransition">
        <pc:chgData name="Smriti Patel" userId="5fd2ca6fb9ea0b00" providerId="LiveId" clId="{9759F244-9C88-47DF-8BD8-63B0AA80654E}" dt="2025-11-07T04:33:31.968" v="491"/>
        <pc:sldMkLst>
          <pc:docMk/>
          <pc:sldMk cId="2222324472" sldId="308"/>
        </pc:sldMkLst>
        <pc:picChg chg="mod">
          <ac:chgData name="Smriti Patel" userId="5fd2ca6fb9ea0b00" providerId="LiveId" clId="{9759F244-9C88-47DF-8BD8-63B0AA80654E}" dt="2025-11-05T04:35:28.428" v="410"/>
          <ac:picMkLst>
            <pc:docMk/>
            <pc:sldMk cId="2222324472" sldId="308"/>
            <ac:picMk id="8" creationId="{FFD2BD9F-962D-9BA5-14BE-C9CD52FEF9C7}"/>
          </ac:picMkLst>
        </pc:picChg>
      </pc:sldChg>
      <pc:sldChg chg="delSp modSp mod modTransition">
        <pc:chgData name="Smriti Patel" userId="5fd2ca6fb9ea0b00" providerId="LiveId" clId="{9759F244-9C88-47DF-8BD8-63B0AA80654E}" dt="2025-11-07T04:33:31.968" v="491"/>
        <pc:sldMkLst>
          <pc:docMk/>
          <pc:sldMk cId="1966913227" sldId="309"/>
        </pc:sldMkLst>
        <pc:spChg chg="mod">
          <ac:chgData name="Smriti Patel" userId="5fd2ca6fb9ea0b00" providerId="LiveId" clId="{9759F244-9C88-47DF-8BD8-63B0AA80654E}" dt="2025-11-05T04:38:28.206" v="426" actId="20577"/>
          <ac:spMkLst>
            <pc:docMk/>
            <pc:sldMk cId="1966913227" sldId="309"/>
            <ac:spMk id="8" creationId="{BCFDA37B-399A-B9F0-7A7D-2A891EB7FFA6}"/>
          </ac:spMkLst>
        </pc:spChg>
      </pc:sldChg>
      <pc:sldChg chg="delSp modSp mod modTransition">
        <pc:chgData name="Smriti Patel" userId="5fd2ca6fb9ea0b00" providerId="LiveId" clId="{9759F244-9C88-47DF-8BD8-63B0AA80654E}" dt="2025-11-07T04:33:31.968" v="491"/>
        <pc:sldMkLst>
          <pc:docMk/>
          <pc:sldMk cId="4230106960" sldId="310"/>
        </pc:sldMkLst>
      </pc:sldChg>
      <pc:sldChg chg="addSp modSp mod modTransition">
        <pc:chgData name="Smriti Patel" userId="5fd2ca6fb9ea0b00" providerId="LiveId" clId="{9759F244-9C88-47DF-8BD8-63B0AA80654E}" dt="2025-11-07T04:33:31.968" v="491"/>
        <pc:sldMkLst>
          <pc:docMk/>
          <pc:sldMk cId="859909800" sldId="312"/>
        </pc:sldMkLst>
        <pc:spChg chg="mod">
          <ac:chgData name="Smriti Patel" userId="5fd2ca6fb9ea0b00" providerId="LiveId" clId="{9759F244-9C88-47DF-8BD8-63B0AA80654E}" dt="2025-11-05T16:22:09.309" v="470" actId="20577"/>
          <ac:spMkLst>
            <pc:docMk/>
            <pc:sldMk cId="859909800" sldId="312"/>
            <ac:spMk id="3" creationId="{DE597F60-88E2-C430-D52B-6604405AD55C}"/>
          </ac:spMkLst>
        </pc:spChg>
        <pc:spChg chg="mod">
          <ac:chgData name="Smriti Patel" userId="5fd2ca6fb9ea0b00" providerId="LiveId" clId="{9759F244-9C88-47DF-8BD8-63B0AA80654E}" dt="2025-11-05T04:35:28.428" v="410"/>
          <ac:spMkLst>
            <pc:docMk/>
            <pc:sldMk cId="859909800" sldId="312"/>
            <ac:spMk id="5" creationId="{E95044F7-BD97-2FDE-4E33-A565BCF0EFEC}"/>
          </ac:spMkLst>
        </pc:spChg>
        <pc:picChg chg="mod ord modCrop">
          <ac:chgData name="Smriti Patel" userId="5fd2ca6fb9ea0b00" providerId="LiveId" clId="{9759F244-9C88-47DF-8BD8-63B0AA80654E}" dt="2025-11-05T04:40:21.654" v="436" actId="1076"/>
          <ac:picMkLst>
            <pc:docMk/>
            <pc:sldMk cId="859909800" sldId="312"/>
            <ac:picMk id="15" creationId="{48869757-F643-C013-26AA-3DDE95080099}"/>
          </ac:picMkLst>
        </pc:picChg>
      </pc:sldChg>
      <pc:sldChg chg="modTransition">
        <pc:chgData name="Smriti Patel" userId="5fd2ca6fb9ea0b00" providerId="LiveId" clId="{9759F244-9C88-47DF-8BD8-63B0AA80654E}" dt="2025-11-07T04:33:31.968" v="491"/>
        <pc:sldMkLst>
          <pc:docMk/>
          <pc:sldMk cId="1338167130" sldId="317"/>
        </pc:sldMkLst>
      </pc:sldChg>
      <pc:sldChg chg="modTransition">
        <pc:chgData name="Smriti Patel" userId="5fd2ca6fb9ea0b00" providerId="LiveId" clId="{9759F244-9C88-47DF-8BD8-63B0AA80654E}" dt="2025-11-07T04:33:31.968" v="491"/>
        <pc:sldMkLst>
          <pc:docMk/>
          <pc:sldMk cId="2301801198" sldId="318"/>
        </pc:sldMkLst>
      </pc:sldChg>
      <pc:sldChg chg="addSp delSp modSp new mod ord">
        <pc:chgData name="Smriti Patel" userId="5fd2ca6fb9ea0b00" providerId="LiveId" clId="{9759F244-9C88-47DF-8BD8-63B0AA80654E}" dt="2025-11-08T12:43:29.700" v="513"/>
        <pc:sldMkLst>
          <pc:docMk/>
          <pc:sldMk cId="1879566059" sldId="319"/>
        </pc:sldMkLst>
        <pc:picChg chg="add mod">
          <ac:chgData name="Smriti Patel" userId="5fd2ca6fb9ea0b00" providerId="LiveId" clId="{9759F244-9C88-47DF-8BD8-63B0AA80654E}" dt="2025-11-08T12:43:22.920" v="511" actId="1076"/>
          <ac:picMkLst>
            <pc:docMk/>
            <pc:sldMk cId="1879566059" sldId="319"/>
            <ac:picMk id="4" creationId="{3D76B507-8EE3-5D3B-40B2-3AABF8F48336}"/>
          </ac:picMkLst>
        </pc:picChg>
        <pc:picChg chg="add del mod">
          <ac:chgData name="Smriti Patel" userId="5fd2ca6fb9ea0b00" providerId="LiveId" clId="{9759F244-9C88-47DF-8BD8-63B0AA80654E}" dt="2025-11-08T12:43:02.661" v="506" actId="478"/>
          <ac:picMkLst>
            <pc:docMk/>
            <pc:sldMk cId="1879566059" sldId="319"/>
            <ac:picMk id="6" creationId="{80333C45-6C22-DACD-939A-32240FE99A3A}"/>
          </ac:picMkLst>
        </pc:picChg>
      </pc:sldChg>
      <pc:sldChg chg="addSp modSp new mod ord">
        <pc:chgData name="Smriti Patel" userId="5fd2ca6fb9ea0b00" providerId="LiveId" clId="{9759F244-9C88-47DF-8BD8-63B0AA80654E}" dt="2025-11-08T12:43:59.652" v="522" actId="14100"/>
        <pc:sldMkLst>
          <pc:docMk/>
          <pc:sldMk cId="1053757142" sldId="320"/>
        </pc:sldMkLst>
        <pc:picChg chg="add mod">
          <ac:chgData name="Smriti Patel" userId="5fd2ca6fb9ea0b00" providerId="LiveId" clId="{9759F244-9C88-47DF-8BD8-63B0AA80654E}" dt="2025-11-08T12:43:59.652" v="522" actId="14100"/>
          <ac:picMkLst>
            <pc:docMk/>
            <pc:sldMk cId="1053757142" sldId="320"/>
            <ac:picMk id="4" creationId="{50C84D0C-37D5-3DD5-B0DE-D9450C56C075}"/>
          </ac:picMkLst>
        </pc:picChg>
      </pc:sldChg>
      <pc:sldMasterChg chg="modTransition modSldLayout">
        <pc:chgData name="Smriti Patel" userId="5fd2ca6fb9ea0b00" providerId="LiveId" clId="{9759F244-9C88-47DF-8BD8-63B0AA80654E}" dt="2025-11-07T04:33:31.968" v="491"/>
        <pc:sldMasterMkLst>
          <pc:docMk/>
          <pc:sldMasterMk cId="1636003154" sldId="2147483648"/>
        </pc:sldMasterMkLst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2223444060" sldId="2147483651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021782729" sldId="2147483654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429611174" sldId="2147483661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4030094665" sldId="2147483664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1657158466" sldId="2147483666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452433515" sldId="2147483670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747404475" sldId="2147483673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1970575627" sldId="2147483674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659711355" sldId="2147483675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338622671" sldId="2147483676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4027163612" sldId="2147483678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2236171487" sldId="2147483680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339423165" sldId="2147483681"/>
          </pc:sldLayoutMkLst>
        </pc:sldLayoutChg>
        <pc:sldLayoutChg chg="modTransition">
          <pc:chgData name="Smriti Patel" userId="5fd2ca6fb9ea0b00" providerId="LiveId" clId="{9759F244-9C88-47DF-8BD8-63B0AA80654E}" dt="2025-11-07T04:33:31.968" v="491"/>
          <pc:sldLayoutMkLst>
            <pc:docMk/>
            <pc:sldMasterMk cId="1636003154" sldId="2147483648"/>
            <pc:sldLayoutMk cId="2306274893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wired.it/economia/business/2016/12/20/uber-perdita-800-milioni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81" y="2163096"/>
            <a:ext cx="10489495" cy="3780503"/>
          </a:xfrm>
        </p:spPr>
        <p:txBody>
          <a:bodyPr anchor="ctr"/>
          <a:lstStyle/>
          <a:p>
            <a:r>
              <a:rPr lang="en-US" dirty="0"/>
              <a:t>Uber: </a:t>
            </a:r>
            <a:r>
              <a:rPr lang="en-US" sz="4000" dirty="0">
                <a:latin typeface="Agency FB" panose="020B0503020202020204" pitchFamily="34" charset="0"/>
              </a:rPr>
              <a:t>revolutionary transportation</a:t>
            </a:r>
            <a:br>
              <a:rPr lang="en-US" dirty="0"/>
            </a:br>
            <a:r>
              <a:rPr lang="en-US" sz="3600" dirty="0"/>
              <a:t>rethinking how the world moves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800" dirty="0"/>
              <a:t>Name-Smriti Patel</a:t>
            </a:r>
            <a:br>
              <a:rPr lang="en-US" sz="2800" dirty="0"/>
            </a:br>
            <a:r>
              <a:rPr lang="en-US" sz="2800" dirty="0" err="1"/>
              <a:t>Admn</a:t>
            </a:r>
            <a:r>
              <a:rPr lang="en-US" sz="2800" dirty="0"/>
              <a:t> no-2025B01010338</a:t>
            </a:r>
            <a:br>
              <a:rPr lang="en-US" sz="2800" dirty="0"/>
            </a:br>
            <a:r>
              <a:rPr lang="en-US" sz="2800" dirty="0"/>
              <a:t>Branch and Sec-CSE-27</a:t>
            </a:r>
            <a:br>
              <a:rPr lang="en-US" sz="2800" dirty="0"/>
            </a:br>
            <a:r>
              <a:rPr lang="en-US" sz="2800" dirty="0"/>
              <a:t>SUBJECT-Design Thinking (25HU102)</a:t>
            </a:r>
            <a:br>
              <a:rPr lang="en-US" sz="2800" dirty="0"/>
            </a:br>
            <a:r>
              <a:rPr lang="en-US" sz="2800" dirty="0"/>
              <a:t>SESSION-(2025-26)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461" y="570271"/>
            <a:ext cx="5641848" cy="50292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  <a:t>Core 5 Stage model</a:t>
            </a:r>
            <a:b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  <a:t>CASE STUDY-UBER </a:t>
            </a:r>
            <a:b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endParaRPr lang="en-US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412749"/>
              </p:ext>
            </p:extLst>
          </p:nvPr>
        </p:nvGraphicFramePr>
        <p:xfrm>
          <a:off x="6221187" y="718458"/>
          <a:ext cx="4910352" cy="5831021"/>
        </p:xfrm>
        <a:graphic>
          <a:graphicData uri="http://schemas.openxmlformats.org/drawingml/2006/table">
            <a:tbl>
              <a:tblPr firstRow="1" bandRow="1"/>
              <a:tblGrid>
                <a:gridCol w="4910352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9840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BACKGROUND AND EMPATHIZE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3-4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88640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latin typeface="Aparajita" panose="02020603050405020304" pitchFamily="18" charset="0"/>
                        <a:cs typeface="Aparajita" panose="02020603050405020304" pitchFamily="18" charset="0"/>
                      </a:endParaRP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DEFINE</a:t>
                      </a: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868989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IDEATE</a:t>
                      </a: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86898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PROTOTYPE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75857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TEST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8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________________________________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OUTCOME AND RESULT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9-10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21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196" r="25196"/>
          <a:stretch/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DBA9DC-D856-93CF-DA64-4F0942E6BE09}"/>
              </a:ext>
            </a:extLst>
          </p:cNvPr>
          <p:cNvSpPr txBox="1"/>
          <p:nvPr/>
        </p:nvSpPr>
        <p:spPr>
          <a:xfrm>
            <a:off x="422787" y="2559211"/>
            <a:ext cx="68235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Difficult to find/hail a taxi, especially in bad weather or non-central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​High uncertainty; no idea when a cab would arrive.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​Inconvenient "cash-only" payments.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​Opaque pricing and risk of "taking the long route."​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General safety and trust concerns</a:t>
            </a:r>
            <a:r>
              <a:rPr lang="en-IN" sz="3200" dirty="0">
                <a:latin typeface="Blackadder ITC" panose="04020505051007020D02" pitchFamily="82" charset="0"/>
              </a:rPr>
              <a:t>.​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DC2B0-8243-79C0-8C8B-47E4A1B6FA0A}"/>
              </a:ext>
            </a:extLst>
          </p:cNvPr>
          <p:cNvSpPr txBox="1"/>
          <p:nvPr/>
        </p:nvSpPr>
        <p:spPr>
          <a:xfrm>
            <a:off x="226142" y="266917"/>
            <a:ext cx="91145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Forte" panose="03060902040502070203" pitchFamily="66" charset="0"/>
              </a:rPr>
              <a:t>Background And Empathize</a:t>
            </a:r>
          </a:p>
          <a:p>
            <a:r>
              <a:rPr lang="en-IN" sz="3600" dirty="0">
                <a:latin typeface="Agency FB" panose="020B0503020202020204" pitchFamily="34" charset="0"/>
              </a:rPr>
              <a:t>​Problem: Severe inefficiency in urban transportation.​</a:t>
            </a:r>
          </a:p>
          <a:p>
            <a:r>
              <a:rPr lang="en-IN" sz="3600" dirty="0">
                <a:latin typeface="Agency FB" panose="020B0503020202020204" pitchFamily="34" charset="0"/>
              </a:rPr>
              <a:t>User (Rider) Pain Points:​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0B68F9-0603-2EC3-CDF6-6C6CA309A8AC}"/>
              </a:ext>
            </a:extLst>
          </p:cNvPr>
          <p:cNvSpPr txBox="1"/>
          <p:nvPr/>
        </p:nvSpPr>
        <p:spPr>
          <a:xfrm>
            <a:off x="855405" y="629265"/>
            <a:ext cx="10068233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Forte" panose="03060902040502070203" pitchFamily="66" charset="0"/>
              </a:rPr>
              <a:t>​User (Driver) Pain Points:</a:t>
            </a:r>
          </a:p>
          <a:p>
            <a:endParaRPr lang="en-US" sz="5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​I</a:t>
            </a:r>
            <a:r>
              <a:rPr lang="en-US" sz="3600" dirty="0">
                <a:latin typeface="Ink Free" panose="03080402000500000000" pitchFamily="66" charset="0"/>
              </a:rPr>
              <a:t>nefficient; significant unpaid time spent "cruising" for passengers.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Ink Free" panose="03080402000500000000" pitchFamily="66" charset="0"/>
              </a:rPr>
              <a:t>​Rigid schedules and high costs of taxi medallions/dispatch fees.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Ink Free" panose="03080402000500000000" pitchFamily="66" charset="0"/>
              </a:rPr>
              <a:t>.Safety risks and inconvenience of handling cash</a:t>
            </a:r>
            <a:r>
              <a:rPr lang="en-US" sz="3600" dirty="0"/>
              <a:t>.</a:t>
            </a:r>
          </a:p>
          <a:p>
            <a:r>
              <a:rPr lang="en-US" sz="2800" dirty="0"/>
              <a:t>​</a:t>
            </a:r>
            <a:r>
              <a:rPr lang="en-US" sz="2800" b="1" i="1" dirty="0"/>
              <a:t>Need: A reliable, safe, convenient, a affordable on-demand solution.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2301801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431" y="261780"/>
            <a:ext cx="5449824" cy="2192594"/>
          </a:xfrm>
        </p:spPr>
        <p:txBody>
          <a:bodyPr anchor="b"/>
          <a:lstStyle/>
          <a:p>
            <a:r>
              <a:rPr lang="en-US" dirty="0">
                <a:latin typeface="Forte" panose="03060902040502070203" pitchFamily="66" charset="0"/>
              </a:rPr>
              <a:t>DEFINE</a:t>
            </a:r>
          </a:p>
        </p:txBody>
      </p:sp>
      <p:pic>
        <p:nvPicPr>
          <p:cNvPr id="6" name="Picture Placeholder 5" descr="A hand holding a phone with a logo on the screen&#10;&#10;AI-generated content may be incorrect.">
            <a:extLst>
              <a:ext uri="{FF2B5EF4-FFF2-40B4-BE49-F238E27FC236}">
                <a16:creationId xmlns:a16="http://schemas.microsoft.com/office/drawing/2014/main" id="{FD63C130-FB36-27F5-F2FF-C99E885F71E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696" t="-898" r="42298" b="898"/>
          <a:stretch>
            <a:fillRect/>
          </a:stretch>
        </p:blipFill>
        <p:spPr>
          <a:xfrm>
            <a:off x="167476" y="130890"/>
            <a:ext cx="5046134" cy="6596220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7910" y="2831691"/>
            <a:ext cx="6636774" cy="3130198"/>
          </a:xfrm>
        </p:spPr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​Core Problem Statement: </a:t>
            </a:r>
          </a:p>
          <a:p>
            <a:r>
              <a:rPr lang="en-US" b="1" i="1" dirty="0">
                <a:latin typeface="Gill Sans Ultra Bold" panose="020B0A02020104020203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might we use technology to connect passengers who need a ride with available drivers in a simple, reliable, and cashless way that benefits both?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D05A1-7817-46F1-1666-4466FF0E30FD}"/>
              </a:ext>
            </a:extLst>
          </p:cNvPr>
          <p:cNvSpPr txBox="1"/>
          <p:nvPr/>
        </p:nvSpPr>
        <p:spPr>
          <a:xfrm>
            <a:off x="0" y="6858000"/>
            <a:ext cx="50461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wired.it/economia/business/2016/12/20/uber-perdita-800-milioni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6698"/>
            <a:ext cx="7534656" cy="1066799"/>
          </a:xfrm>
        </p:spPr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7253" y="1720645"/>
            <a:ext cx="11012128" cy="46506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​</a:t>
            </a:r>
            <a:r>
              <a:rPr lang="en-US" sz="2400" b="1" dirty="0">
                <a:latin typeface="Agency FB" panose="020B0503020202020204" pitchFamily="34" charset="0"/>
              </a:rPr>
              <a:t>Core Idea: "Push a button, get a ride.“</a:t>
            </a:r>
          </a:p>
          <a:p>
            <a:pPr marL="0" indent="0">
              <a:buNone/>
            </a:pPr>
            <a:r>
              <a:rPr lang="en-US" sz="2400" b="1" dirty="0">
                <a:latin typeface="Agency FB" panose="020B0503020202020204" pitchFamily="34" charset="0"/>
              </a:rPr>
              <a:t>​Explored Solutions: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​</a:t>
            </a:r>
            <a:r>
              <a:rPr lang="en-US" b="1" dirty="0">
                <a:latin typeface="Gill Sans Ultra Bold" panose="020B0A02020104020203" pitchFamily="34" charset="0"/>
              </a:rPr>
              <a:t>Use smartphone GPS to pinpoint both rider and driver locations on a map.</a:t>
            </a:r>
          </a:p>
          <a:p>
            <a:pPr marL="0" indent="0">
              <a:buNone/>
            </a:pPr>
            <a:r>
              <a:rPr lang="en-US" b="1" dirty="0">
                <a:latin typeface="Gill Sans Ultra Bold" panose="020B0A02020104020203" pitchFamily="34" charset="0"/>
              </a:rPr>
              <a:t>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Create a mobile app for all interactions.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Gill Sans Ultra Bold" panose="020B0A020201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​Develop a secure, in-app payment system (cashless).​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Gill Sans Ultra Bold" panose="020B0A020201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Build a two-way rating system to establish trust.​Use drivers' personal vehicles to scale the "fleet" quickly and flexibly.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698090"/>
          </a:xfrm>
        </p:spPr>
        <p:txBody>
          <a:bodyPr anchor="b"/>
          <a:lstStyle/>
          <a:p>
            <a:r>
              <a:rPr lang="en-US" dirty="0">
                <a:latin typeface="Forte" panose="03060902040502070203" pitchFamily="66" charset="0"/>
              </a:rPr>
              <a:t>PROTOTYPE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1769806"/>
            <a:ext cx="8109772" cy="470084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</a:t>
            </a:r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First Prototype (</a:t>
            </a:r>
            <a:r>
              <a:rPr lang="en-US" dirty="0" err="1">
                <a:latin typeface="Algerian" panose="04020705040A02060702" pitchFamily="82" charset="0"/>
                <a:cs typeface="Aparajita" panose="02020603050405020304" pitchFamily="18" charset="0"/>
              </a:rPr>
              <a:t>UberBlack</a:t>
            </a:r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):​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 simple app launched in San Francisco.​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Tested only with professional black car drivers and a small user group.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​Focused on testing the core loop: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1. Request, 2. Match, 3. Ride, 4. Pay (cashless).​</a:t>
            </a: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endParaRPr lang="en-US" dirty="0">
              <a:latin typeface="Algerian" panose="04020705040A02060702" pitchFamily="82" charset="0"/>
              <a:cs typeface="Aparajita" panose="02020603050405020304" pitchFamily="18" charset="0"/>
            </a:endParaRPr>
          </a:p>
          <a:p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Second Prototype (UberX):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​A significant iteration based on the initial test.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​Opened the platform to non-professional drivers with their own personal, pre-vetted vehicles.​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Prototyped a lower-cost, more scalable model.​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84633"/>
            <a:ext cx="10360152" cy="914400"/>
          </a:xfrm>
        </p:spPr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TEST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730478"/>
            <a:ext cx="5181600" cy="418569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Algerian" panose="04020705040A02060702" pitchFamily="82" charset="0"/>
              </a:rPr>
              <a:t>​Initial Test (</a:t>
            </a:r>
            <a:r>
              <a:rPr lang="en-US" sz="3000" dirty="0" err="1">
                <a:latin typeface="Algerian" panose="04020705040A02060702" pitchFamily="82" charset="0"/>
              </a:rPr>
              <a:t>UberBlack</a:t>
            </a:r>
            <a:r>
              <a:rPr lang="en-US" sz="3000" dirty="0">
                <a:latin typeface="Algerian" panose="04020705040A02060702" pitchFamily="82" charset="0"/>
              </a:rPr>
              <a:t>):​</a:t>
            </a:r>
          </a:p>
          <a:p>
            <a:r>
              <a:rPr lang="en-US" dirty="0">
                <a:latin typeface="Gill Sans Ultra Bold" panose="020B0A02020104020203" pitchFamily="34" charset="0"/>
              </a:rPr>
              <a:t>Feedback: Users loved the "magical" convenience. Drivers valued the new income source.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​Problem Found: Huge supply/demand gaps during peak hours (e.g., New Year's Eve).​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Iteration: Led to the idea and implementation of "Surge Pricing" to incentivize more drivers.​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1592826"/>
            <a:ext cx="5421298" cy="432334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Ongoing Test (UberX Launch):</a:t>
            </a:r>
          </a:p>
          <a:p>
            <a:r>
              <a:rPr lang="en-US" dirty="0"/>
              <a:t>​</a:t>
            </a:r>
            <a:r>
              <a:rPr lang="en-US" dirty="0">
                <a:latin typeface="Gill Sans Ultra Bold" panose="020B0A02020104020203" pitchFamily="34" charset="0"/>
              </a:rPr>
              <a:t>Feedback: Massive adoption by both riders (for cost) and drivers (for flexibility).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​Iteration: This model became the core business. All new features (Uber Pool, upfront pricing, safety tools) are further cycles of prototyping and testing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5DA9A1-4488-9DB6-5E66-17A7FBCF76CC}"/>
              </a:ext>
            </a:extLst>
          </p:cNvPr>
          <p:cNvCxnSpPr>
            <a:cxnSpLocks/>
          </p:cNvCxnSpPr>
          <p:nvPr/>
        </p:nvCxnSpPr>
        <p:spPr>
          <a:xfrm>
            <a:off x="6204155" y="1592826"/>
            <a:ext cx="0" cy="528483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073" t="-4939" r="7270" b="4939"/>
          <a:stretch>
            <a:fillRect/>
          </a:stretch>
        </p:blipFill>
        <p:spPr>
          <a:xfrm>
            <a:off x="6095999" y="0"/>
            <a:ext cx="6096001" cy="6555026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Outcomes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477" y="2039110"/>
            <a:ext cx="6928717" cy="414537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Gill Sans Ultra Bold" panose="020B0A02020104020203" pitchFamily="34" charset="0"/>
              </a:rPr>
              <a:t>Market Disruption: Fundamentally changed the global taxi and logistics industries.​</a:t>
            </a:r>
          </a:p>
          <a:p>
            <a:r>
              <a:rPr lang="en-US" dirty="0">
                <a:latin typeface="Gill Sans Ultra Bold" panose="020B0A02020104020203" pitchFamily="34" charset="0"/>
              </a:rPr>
              <a:t>Creation of the "Gig Economy": Popularized a new model of flexible, independent work for millions.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​Scale: Operates in over 10,000 cities, providing a primary transport alternative.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Platform Expansion: The success of the model allowed for diversification into Uber Eats, Uber Freight, and more.</a:t>
            </a:r>
          </a:p>
          <a:p>
            <a:r>
              <a:rPr lang="en-US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429000"/>
            <a:ext cx="10520516" cy="2514600"/>
          </a:xfrm>
        </p:spPr>
        <p:txBody>
          <a:bodyPr/>
          <a:lstStyle/>
          <a:p>
            <a:r>
              <a:rPr lang="en-US" dirty="0"/>
              <a:t>                               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0140B-99D6-A201-2116-ACF97B5AC7A8}"/>
              </a:ext>
            </a:extLst>
          </p:cNvPr>
          <p:cNvSpPr txBox="1"/>
          <p:nvPr/>
        </p:nvSpPr>
        <p:spPr>
          <a:xfrm>
            <a:off x="1700981" y="1238866"/>
            <a:ext cx="861305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Forte" panose="03060902040502070203" pitchFamily="66" charset="0"/>
              </a:rPr>
              <a:t>                           Key Lesson: </a:t>
            </a:r>
          </a:p>
          <a:p>
            <a:r>
              <a:rPr lang="en-US" sz="3200" dirty="0">
                <a:latin typeface="Forte" panose="03060902040502070203" pitchFamily="66" charset="0"/>
              </a:rPr>
              <a:t>Showed that a human-centered design (focusing on the pain points of riders and drivers) was the key to unlocking a massive new market. </a:t>
            </a:r>
            <a:endParaRPr lang="en-IN" sz="32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BF0A43-1163-8839-45E9-C44C4447C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 descr="A notebook with writing on it">
            <a:extLst>
              <a:ext uri="{FF2B5EF4-FFF2-40B4-BE49-F238E27FC236}">
                <a16:creationId xmlns:a16="http://schemas.microsoft.com/office/drawing/2014/main" id="{3D76B507-8EE3-5D3B-40B2-3AABF8F48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489664" y="-1920886"/>
            <a:ext cx="7212671" cy="1105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66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54B4E-F90C-CBC6-2008-C04329216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 descr="A notebook with writing on it">
            <a:extLst>
              <a:ext uri="{FF2B5EF4-FFF2-40B4-BE49-F238E27FC236}">
                <a16:creationId xmlns:a16="http://schemas.microsoft.com/office/drawing/2014/main" id="{50C84D0C-37D5-3DD5-B0DE-D9450C56C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125213" y="-2490217"/>
            <a:ext cx="7941573" cy="1183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57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</TotalTime>
  <Words>651</Words>
  <Application>Microsoft Office PowerPoint</Application>
  <PresentationFormat>Widescreen</PresentationFormat>
  <Paragraphs>89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Agency FB</vt:lpstr>
      <vt:lpstr>Algerian</vt:lpstr>
      <vt:lpstr>Aparajita</vt:lpstr>
      <vt:lpstr>Arial</vt:lpstr>
      <vt:lpstr>Blackadder ITC</vt:lpstr>
      <vt:lpstr>Calibri</vt:lpstr>
      <vt:lpstr>Courier New</vt:lpstr>
      <vt:lpstr>Forte</vt:lpstr>
      <vt:lpstr>Gill Sans Nova Light</vt:lpstr>
      <vt:lpstr>Gill Sans Ultra Bold</vt:lpstr>
      <vt:lpstr>Ink Free</vt:lpstr>
      <vt:lpstr>Sagona Book</vt:lpstr>
      <vt:lpstr>Wingdings</vt:lpstr>
      <vt:lpstr>Custom</vt:lpstr>
      <vt:lpstr>Uber: revolutionary transportation rethinking how the world moves   Name-Smriti Patel Admn no-2025B01010338 Branch and Sec-CSE-27 SUBJECT-Design Thinking (25HU102) SESSION-(2025-26)  </vt:lpstr>
      <vt:lpstr>Core 5 Stage model CASE STUDY-UBER  </vt:lpstr>
      <vt:lpstr>PowerPoint Presentation</vt:lpstr>
      <vt:lpstr>PowerPoint Presentation</vt:lpstr>
      <vt:lpstr>DEFINE</vt:lpstr>
      <vt:lpstr>IDEATE</vt:lpstr>
      <vt:lpstr>PROTOTYPE</vt:lpstr>
      <vt:lpstr>TEST</vt:lpstr>
      <vt:lpstr>Outcomes &amp; Impact</vt:lpstr>
      <vt:lpstr>                               Thank you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Smriti Patel</dc:creator>
  <cp:lastModifiedBy>Smriti Patel</cp:lastModifiedBy>
  <cp:revision>1</cp:revision>
  <dcterms:created xsi:type="dcterms:W3CDTF">2025-11-05T02:29:21Z</dcterms:created>
  <dcterms:modified xsi:type="dcterms:W3CDTF">2025-11-08T12:44:00Z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